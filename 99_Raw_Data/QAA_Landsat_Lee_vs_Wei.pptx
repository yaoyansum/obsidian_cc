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71A3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91440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QAA 算法在 Landsat 上的应用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2016 (ZSD透明度)  vs  Wei 2019 (组分吸收系数)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Landsat-8/OLI 的准分析算法（QAA）适配方案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来源: Lee et al. 2016 RSE | Wei et al. 2019 JGR-Oceans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内容概览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3533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QAA_v6 标准流程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准分析算法核心步骤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38528"/>
            <a:ext cx="365760" cy="3657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920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Landsat-8 的核心挑战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1214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缺失 412 nm 与 530 nm 波段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505456"/>
            <a:ext cx="365760" cy="3657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487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2016 方案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268833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 530 nm → 算 ZSD（透明度）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072384"/>
            <a:ext cx="365760" cy="3657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05409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2019 (SAVE) 方案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325526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 412 nm → 算 aph / ag / 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639312"/>
            <a:ext cx="365760" cy="3657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6210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数值示例对比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97280" y="38221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同一水体 → 两种视角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365760" cy="3657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41879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关键区别与总结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7280" y="43891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什么时候用哪个？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4846320"/>
            <a:ext cx="640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</a:rPr>
              <a:t>QAA in Landsat: Lee 2016 vs Wei 2019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71A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920240"/>
            <a:ext cx="73152" cy="10972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Quasi-Analytical Algorithm · Lee et al. 2002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QAA_v6 标准流程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0" y="4846320"/>
            <a:ext cx="640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</a:rPr>
              <a:t>QAA in Landsat: Lee 2016 vs Wei 2019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QAA_v6 九步流程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Rrs 到 aph / adg 的完整解析路径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697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10058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17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rrs = Rrs / (0.52 + 1.7Rrs)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水上 → 水下反射率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97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71600"/>
            <a:ext cx="54864" cy="10058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417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6276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bb/(a+bb)  = f(rrs, g0, g1)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83280" y="19385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Gordon 模型求解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97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371600"/>
            <a:ext cx="54864" cy="10058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4173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16276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确定参考波长 λ₀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63640" y="19385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Rrs(670) &lt; 0.0015 → 55x nm, 否则 670 nm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560320"/>
            <a:ext cx="2697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560320"/>
            <a:ext cx="54864" cy="10058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606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28163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a(λ₀) = aw(λ₀) + Δa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1272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经验公式估算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46120" y="2560320"/>
            <a:ext cx="2697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2560320"/>
            <a:ext cx="54864" cy="10058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2606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28163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bbp(λ₀) = u·a/(1-u) − bbw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83280" y="31272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颗粒后向散射系数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26480" y="2560320"/>
            <a:ext cx="2697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560320"/>
            <a:ext cx="54864" cy="10058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2606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28163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2.0[1 − 1.2e^(−0.9r₄₄₃/r₅₅ₓ)]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63640" y="31272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bbp 光谱斜率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3749040"/>
            <a:ext cx="2697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3749040"/>
            <a:ext cx="54864" cy="10058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7947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40050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bbp(λ) = bbp(λ₀)(λ₀/λ)^η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2920" y="43159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外推至短波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46120" y="3749040"/>
            <a:ext cx="2697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46120" y="3749040"/>
            <a:ext cx="54864" cy="10058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3" name="Text 41"/>
          <p:cNvSpPr/>
          <p:nvPr/>
        </p:nvSpPr>
        <p:spPr>
          <a:xfrm>
            <a:off x="3383280" y="37947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83280" y="40050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a(λ) = (1−u)(bbw+bbp)/u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383280" y="43159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总吸收系数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26480" y="3749040"/>
            <a:ext cx="2697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26480" y="3749040"/>
            <a:ext cx="54864" cy="100584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8" name="Text 46"/>
          <p:cNvSpPr/>
          <p:nvPr/>
        </p:nvSpPr>
        <p:spPr>
          <a:xfrm>
            <a:off x="6263640" y="37947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63640" y="40050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ζ, ξ → adg(443) → aph = a − adg − aw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63640" y="43159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组分分解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2" name="Text 50"/>
          <p:cNvSpPr/>
          <p:nvPr/>
        </p:nvSpPr>
        <p:spPr>
          <a:xfrm>
            <a:off x="8229600" y="4846320"/>
            <a:ext cx="640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</a:rPr>
              <a:t>QAA in Landsat: Lee 2016 vs Wei 2019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Landsat-8 / OLI 的核心挑战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仅有 4 个可见光波段，关键波段缺失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029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32004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L8 OLI 可见光波段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1  443 nm  — 海岸/气溶胶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2  482 nm  — 蓝光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3  561 nm  — 绿光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4  655 nm  — 红光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1371600"/>
            <a:ext cx="3108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0" y="1371600"/>
            <a:ext cx="54864" cy="1371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缺失: 412 nm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9788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QAA 组分分解需要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97880" y="2194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无法直接得到 aph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0" y="2926080"/>
            <a:ext cx="3108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0" y="2926080"/>
            <a:ext cx="54864" cy="1371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缺失: ~530 nm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97880" y="3291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ZSD 最透明窗口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97880" y="3749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需要经验填充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4846320"/>
            <a:ext cx="640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</a:rPr>
              <a:t>QAA in Landsat: Lee 2016 vs Wei 2019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71A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920240"/>
            <a:ext cx="73152" cy="10972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 530 nm → QAA 反演 a, bb → Kd → ZSD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2016 — ZSD 透明度方案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0" y="4846320"/>
            <a:ext cx="640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</a:rPr>
              <a:t>QAA in Landsat: Lee 2016 vs Wei 2019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2016：完整 10 步流程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Secchi Disk Depth from Landsat-8 · RSE 2016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73152" cy="25603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25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确定 L8 各波段代表性波长（回归 901 条实测光谱）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682496"/>
            <a:ext cx="73152" cy="256032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6824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重新计算波段平均的 aw_L8、bbw_L8（两步法）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039112"/>
            <a:ext cx="73152" cy="256032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3911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执行 QAA_v6 → a(λ)、bb(λ) at L8 四波段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395728"/>
            <a:ext cx="73152" cy="256032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9572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计算各波段 Kd(λ)（Lee et al. 2013 模型）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752344"/>
            <a:ext cx="73152" cy="25603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75234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光谱间隙填充: Kd(530)=0.20Kd(482)+0.75Kd(554)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73152" cy="256032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089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确定最透明窗口 Kd_tr = min(Kd at all bands)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465576"/>
            <a:ext cx="73152" cy="256032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46557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对应 Rrs_tr = max(Rrs at all bands)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822192"/>
            <a:ext cx="73152" cy="25603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221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ZSD = (1/2.5·Kd_tr)·ln(|0.14−Rrs_tr|/0.013)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178808"/>
            <a:ext cx="73152" cy="25603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1788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验证: R²=0.96, MAPD=16.7% (N=197, 0.1-30m)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535424"/>
            <a:ext cx="73152" cy="256032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5354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⑩ 应用: L8 影像 → 高分辨率 ZSD 地图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4846320"/>
            <a:ext cx="640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</a:rPr>
              <a:t>QAA in Landsat: Lee 2016 vs Wei 2019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2016：代表性波长 &amp; 纯水 IOPs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宽波段 → 等效窄波段的精确换算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L8 波段代表性波长 (901 条实测高光谱回归)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201168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L8 Band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中心波长 (nm)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代表性波长 (nm)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理由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|slope-1|=0.0014 最小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|slope-1|=0.0028 最小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原561处 slope=0.96 偏差大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|slope-1|=0.0011 最小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2004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bbw_L8(Bi) — 直接加权平均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bbw_L8 = ∫bbw(λ)·RSRi(λ)dλ / ∫RSRi(λ)dλ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3886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Rrs ∝ bb → 加权平均合理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4880" y="32004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3776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aw_L8(Bi) — 两步法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37760" y="3611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xw = ∫(1/aw)·RSRi dλ / ∫RSRi dλ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3776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aw_L8 = 1 / xw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37760" y="4069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Rrs ∝ 1/a → 先平均 1/aw 再取倒数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0" y="4846320"/>
            <a:ext cx="640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</a:rPr>
              <a:t>QAA in Landsat: Lee 2016 vs Wei 2019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2016：Kd 模型 → ZSD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光谱间隙填充 + ZSD 新理论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半解析模型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Kd(λ) = (1 + 0.005θs)·a(λ)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(1 − 0.265·bbw/bb)·4.26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·(1 − 0.52·e^(−10.8a))·bb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θs = 太阳天顶角（默认 30°）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530 nm 光谱间隙填充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实测 338 组回归 (R²=0.99):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Kd(530) = 0.20·Kd(488) + 0.75·Kd(555)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L8 版本: Kd(530) = 0.20·Kd(482) + 0.75·Kd(554)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468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MAPD ≈ 6.9%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82296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63240"/>
            <a:ext cx="54864" cy="1554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ZSD 模型 (Lee et al. 2015a 新理论)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ZSD = 1 / (2.5 × min(Kd_tr, 0.2)) × ln(|0.14 − Rrs_tr| / 0.013)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3886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Kd_tr = 最透明波段的 Kd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Rrs_tr = 对应波段的最大 Rrs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验证: R²=0.96, MAPD=16.7% (N=197, ZSD 0.1~30m)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4846320"/>
            <a:ext cx="640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</a:rPr>
              <a:t>QAA in Landsat: Lee 2016 vs Wei 2019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71A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920240"/>
            <a:ext cx="73152" cy="10972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 412 nm → QAA 分解 → aph / ag / ad · JGR-Oceans 2019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2019 — SAVE 组分吸收方案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0" y="4846320"/>
            <a:ext cx="640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</a:rPr>
              <a:t>QAA in Landsat: Lee 2016 vs Wei 2019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2019：核心问题 — 缺失 412 nm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QAA Step 9 的组分分解依赖 a(412) → 没有 412 nm 则无法分解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10972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adg(443) = [a(412) − ζ·a(443)] / [ξ−ζ] − [aw(412) − ζ·aw(443)] / [ξ−ζ]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aph(443) = a(443) − adg(443) − aw(443)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a(412) 需要通过 Rrs(412) 反演得到，但 L8 没有 412 nm 波段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97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的核心思路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108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291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LUT 匹配光谱形状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4747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估算 Rrs(412)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306324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29000" y="3108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3291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655 nm → 670 nm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34747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多项式转换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063240"/>
            <a:ext cx="25603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63640" y="3108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3291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 QAA_v6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34747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aph, adg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4114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adg 进一步分解 (Dong et al. 2013) → ag(CDOM) + ad(碎屑)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3616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最终输出: aph(443), ag(443), ad(443)  — 三种组分的光吸收系数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4846320"/>
            <a:ext cx="640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</a:rPr>
              <a:t>QAA in Landsat: Lee 2016 vs Wei 2019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虚拟波段估计器 (Virtual-band Estimator)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利用 LUT 余弦匹配 → 从 4 个波段估算 Rrs(412)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54864" cy="16459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LUT 构建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NOMAD 实测 + Hydrolight 模拟 → 高光谱 Rrs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OLI 响应函数卷积为 Rrs(443,482,561,655)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插值得到 Rrs(412) — 5 nm 窄带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80160"/>
            <a:ext cx="54864" cy="16459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RSS 归一化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nRrs* = Rrs / √(ΣRrs²)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965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保留光谱形状 + 波段比值不变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92040" y="2148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nRrs* ∈ [0,1], RSS=1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08960"/>
            <a:ext cx="54864" cy="1554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余弦距离匹配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35204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1 − Σ(nRrs*·Rrs) / (√ΣnRrs*² · √ΣRrs²)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37947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4 个已知波段 (443-655) 匹配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39776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 d 最小的 LUT 记录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310896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108960"/>
            <a:ext cx="54864" cy="1554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缩放求解 Rrs(412)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√(ΣRrs(1-4)²) / √(ΣnRrs*(1-4)²)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794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Rrs(412) = A × nRrs*(412)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4114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MAPD = 7% (NOMAD) / 11% (SeaBASS)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4846320"/>
            <a:ext cx="640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</a:rPr>
              <a:t>QAA in Landsat: Lee 2016 vs Wei 2019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2019：655→670 nm 转换 + 完整 QAA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与标准 QAA_v6 的关键适配点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54864" cy="15544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655→670 nm 转换 (R²=0.99)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Rrs(670) = 10^(P1X³ + P2X² + P3X + P4)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log₁₀(Rrs(655))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148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P1=0.0775, P2=0.6585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3317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P3=2.7692, P4=1.433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54864" cy="1554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QAA_v6 完整反演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6916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输入: Rrs(412,443,482,561,670)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rrs → u → a(670) → bbp → η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bbp(λ) → a(λ) at all bands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adg(443), aph(443)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17520"/>
            <a:ext cx="54864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108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ζ = 0.74 + 0.2 / (0.8 + r₄₄₃/r₅₆₁)   S = 0.015 + 0.002 / (0.6 + r₄₄₃/r₅₆₁)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4015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ξ = exp(S × (412−443)) = exp(−31S)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703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adg(443) = [a(412) − ζ·a(443) − aw(412) + ζ·aw(443)] / [ξ−ζ]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9776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aph(443) = a(443) − adg(443) − aw(443)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2245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adg(λ) = adg(443)·exp(S·(443−λ))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0" y="4846320"/>
            <a:ext cx="640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</a:rPr>
              <a:t>QAA in Landsat: Lee 2016 vs Wei 2019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2019：adg 分解 → ag(CDOM) + ad(碎屑)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Dong et al. 2013 经验算法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54864" cy="14630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71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 QAA 不分解 adg（CDOM + 碎屑光谱行为相似）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0.05 × apg(443) + bbp(561)^1.4 × Rrs(561) / [Rrs(443) × (Rrs(561) + Rrs(670))]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ad(443) = 0.6 × σ^0.9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ad(λ) = ad(443) × exp(−Sd(λ−443)), Sd = 0.012 nm⁻¹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ag(λ) = adg(λ) − ad(λ)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验证精度 (MAPD)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SeaBASS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Rrs(412)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精度可接受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a(443)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aph(443)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与同类算法持平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ag(443)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与 DOC 强相关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ad(443)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精度较差 (经验步骤多)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0" y="4846320"/>
            <a:ext cx="640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14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</a:rPr>
              <a:t>QAA in Landsat: Lee 2016 vs Wei 2019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71A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920240"/>
            <a:ext cx="73152" cy="10972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假设输入 Rrs(443)=0.0085, Rrs(482)=0.0092, Rrs(561)=0.0068, Rrs(655)=0.0012 sr⁻¹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数值示例：同一水体的两种视角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0" y="4846320"/>
            <a:ext cx="640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</a:rPr>
              <a:t>QAA in Landsat: Lee 2016 vs Wei 2019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数值示例：同一水体 → 两种完全不同的输出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4023360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2016 路径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QAA_v6 → a(λ), bb(λ)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Kd(443)=0.32, Kd(482)=0.28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Kd(554)=0.38, Kd(656)=1.85 m⁻¹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Kd(530) = 0.20×0.28 + 0.75×0.38 = 0.34 m⁻¹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Kd_tr = min(0.32,0.28,0.34,0.38,1.85) = 0.28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Rrs_tr = max(Rrs) = 0.0092 sr⁻¹ (at 482 nm)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ZSD = 1/(2.5×0.28) × ln(|0.14−0.0092|/0.013)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3.3 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透明度约 3.3 米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280160"/>
            <a:ext cx="402336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 2019 路径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LUT匹配 → Rrs(412) ≈ 0.0094 sr⁻¹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655→670nm: Rrs(670)≈0.00105 sr⁻¹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377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完整QAA → 组分分解: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aph(443) = 0.08 m⁻¹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浮游植物吸收 — 贡献较小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adg(443) = 0.45 m⁻¹ → ag(443) = 0.38 m⁻¹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4290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CDOM 主导吸收 → 与 DOC 高度相关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3703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ad(443) = 0.07 m⁻¹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937760"/>
            <a:ext cx="8412480" cy="91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4846320"/>
            <a:ext cx="640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</a:rPr>
              <a:t>QAA in Landsat: Lee 2016 vs Wei 2019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关键区别对比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2016 vs Wei 2019 全维度对比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对比维度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AD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 2016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 2019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解决缺失波段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~530 nm (ZSD窗口)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 nm (QAA分解必需)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填补策略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经验回归: Kd(530)=...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LUT余弦匹配→Rrs(412)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额外转换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无（直接使用655nm）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多项式 Rrs(655)→Rrs(670)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最终产物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ZSD (m), Kd(λ)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aph, ag, ad (m⁻¹)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是否分解adg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是 (Dong et al. 经验)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核心优势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简单、ZSD为管理常用指标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组分分离、ag与DOC相关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主导局限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不输出组分吸收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ad精度低 (MAPD~60%)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验证范围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ZSD 0.1~30m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a(443) 0.01~3m⁻¹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4224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一句话区分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Lee: 补 530 nm → 算 ZSD（水有多清）    |    Wei: 补 412 nm → 分解 aph/ag/ad（水里有什么）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0" y="4846320"/>
            <a:ext cx="640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17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</a:rPr>
              <a:t>QAA in Landsat: Lee 2016 vs Wei 2019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71A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731520"/>
            <a:ext cx="73152" cy="7315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7498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场景一：水环境管理 / 富营养化评估 → Lee 2016 → ZSD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场景二：碳循环研究 (CDOM/DOC) → Wei 2019 → ag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场景三：沿岸水体浮游植物生物量制图 → Wei 2019 → aph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场景四：大湖水质长期变化趋势 → Lee 2016 → ZSD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场景五：光学组分分离 + 水质成因分析 → Wei 2019 → aph+ag+ad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「从 Landsat 数据中，我们既可以知道水有多清（Lee），也可以知道水里有什么（Wei）」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4846320"/>
            <a:ext cx="6400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18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4572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D6F1"/>
                </a:solidFill>
              </a:rPr>
              <a:t>QAA in Landsat: Lee 2016 vs Wei 2019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QAA算法在Landsat上的应用：Lee 2016 vs Wei 2019</dc:title>
  <dc:subject>PptxGenJS Presentation</dc:subject>
  <dc:creator>Knowledge Base</dc:creator>
  <cp:lastModifiedBy>Knowledge Base</cp:lastModifiedBy>
  <cp:revision>1</cp:revision>
  <dcterms:created xsi:type="dcterms:W3CDTF">2026-05-20T01:55:48Z</dcterms:created>
  <dcterms:modified xsi:type="dcterms:W3CDTF">2026-05-20T01:55:48Z</dcterms:modified>
</cp:coreProperties>
</file>